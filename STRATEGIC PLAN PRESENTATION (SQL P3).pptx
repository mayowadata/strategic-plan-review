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Figtree"/>
      <p:regular r:id="rId19"/>
      <p:bold r:id="rId20"/>
      <p:italic r:id="rId21"/>
      <p:boldItalic r:id="rId22"/>
    </p:embeddedFont>
    <p:embeddedFont>
      <p:font typeface="Jost Light"/>
      <p:regular r:id="rId23"/>
      <p:bold r:id="rId24"/>
      <p:italic r:id="rId25"/>
      <p:boldItalic r:id="rId26"/>
    </p:embeddedFont>
    <p:embeddedFont>
      <p:font typeface="Figtree Light"/>
      <p:regular r:id="rId27"/>
      <p:bold r:id="rId28"/>
      <p:italic r:id="rId29"/>
      <p:boldItalic r:id="rId30"/>
    </p:embeddedFont>
    <p:embeddedFont>
      <p:font typeface="Jo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-bold.fntdata"/><Relationship Id="rId22" Type="http://schemas.openxmlformats.org/officeDocument/2006/relationships/font" Target="fonts/Figtree-boldItalic.fntdata"/><Relationship Id="rId21" Type="http://schemas.openxmlformats.org/officeDocument/2006/relationships/font" Target="fonts/Figtree-italic.fntdata"/><Relationship Id="rId24" Type="http://schemas.openxmlformats.org/officeDocument/2006/relationships/font" Target="fonts/JostLight-bold.fntdata"/><Relationship Id="rId23" Type="http://schemas.openxmlformats.org/officeDocument/2006/relationships/font" Target="fonts/Jost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JostLight-boldItalic.fntdata"/><Relationship Id="rId25" Type="http://schemas.openxmlformats.org/officeDocument/2006/relationships/font" Target="fonts/JostLight-italic.fntdata"/><Relationship Id="rId28" Type="http://schemas.openxmlformats.org/officeDocument/2006/relationships/font" Target="fonts/FigtreeLight-bold.fntdata"/><Relationship Id="rId27" Type="http://schemas.openxmlformats.org/officeDocument/2006/relationships/font" Target="fonts/Figtree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ost-regular.fntdata"/><Relationship Id="rId30" Type="http://schemas.openxmlformats.org/officeDocument/2006/relationships/font" Target="fonts/Figtree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Jost-italic.fntdata"/><Relationship Id="rId10" Type="http://schemas.openxmlformats.org/officeDocument/2006/relationships/slide" Target="slides/slide4.xml"/><Relationship Id="rId32" Type="http://schemas.openxmlformats.org/officeDocument/2006/relationships/font" Target="fonts/Jo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Jo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Figtree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62d150dfb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b62d150dfb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62d150dfb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62d150dfb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b62d150dfb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b62d150dfb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62d150dfb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b62d150dfb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62d150dfb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b62d150dfb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62d150dfb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b62d150dfb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b62d150dfb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b62d150dfb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62d150dfb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b62d150dfb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b62d150dfb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b62d150dfb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62d150dfb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62d150dfb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62d150dfb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b62d150dfb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62d150dfb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b62d150dfb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6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6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6" name="Google Shape;86;p16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9" name="Google Shape;89;p16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9" name="Google Shape;109;p17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0" name="Google Shape;110;p17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1" name="Google Shape;111;p17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2" name="Google Shape;112;p17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3" name="Google Shape;113;p17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4" name="Google Shape;114;p17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123" name="Google Shape;123;p19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9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8" name="Google Shape;128;p20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5" name="Google Shape;135;p20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8" name="Google Shape;138;p21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9" name="Google Shape;139;p21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1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45" name="Google Shape;145;p21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2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4" name="Google Shape;154;p22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3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8" name="Google Shape;168;p24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9" name="Google Shape;169;p24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0" name="Google Shape;170;p24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1" name="Google Shape;171;p24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2" name="Google Shape;172;p24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3" name="Google Shape;173;p24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4" name="Google Shape;174;p24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5" name="Google Shape;175;p24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8" name="Google Shape;178;p25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0" name="Google Shape;180;p25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3" name="Google Shape;183;p25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5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6" name="Google Shape;186;p25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25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9" name="Google Shape;189;p25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5" name="Google Shape;195;p26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6" name="Google Shape;196;p26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9" name="Google Shape;199;p2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1" name="Google Shape;201;p27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2" name="Google Shape;202;p27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3" name="Google Shape;203;p27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27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27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7" name="Google Shape;207;p27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8" name="Google Shape;208;p27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0" name="Google Shape;210;p27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1" name="Google Shape;211;p27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2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8" name="Google Shape;218;p28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9" name="Google Shape;219;p28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0" name="Google Shape;220;p28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1" name="Google Shape;221;p28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5" name="Google Shape;225;p2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6" name="Google Shape;226;p2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7" name="Google Shape;227;p29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9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2" name="Google Shape;232;p29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4" name="Google Shape;234;p29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6" name="Google Shape;236;p29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8" name="Google Shape;238;p29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2" name="Google Shape;242;p3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3" name="Google Shape;243;p30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5" name="Google Shape;245;p30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6" name="Google Shape;246;p30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7" name="Google Shape;247;p30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8" name="Google Shape;248;p30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9" name="Google Shape;249;p30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50" name="Google Shape;250;p30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1" name="Google Shape;251;p30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3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3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7" name="Google Shape;257;p31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31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9" name="Google Shape;259;p31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60" name="Google Shape;260;p31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31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2" name="Google Shape;262;p31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31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4" name="Google Shape;264;p31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5" name="Google Shape;265;p31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8" name="Google Shape;268;p32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69" name="Google Shape;269;p32"/>
          <p:cNvPicPr preferRelativeResize="0"/>
          <p:nvPr/>
        </p:nvPicPr>
        <p:blipFill rotWithShape="1">
          <a:blip r:embed="rId2">
            <a:alphaModFix/>
          </a:blip>
          <a:srcRect b="14406" l="0" r="0" t="14413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1" name="Google Shape;271;p32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2" name="Google Shape;272;p32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3" name="Google Shape;273;p32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4" name="Google Shape;274;p32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5" name="Google Shape;275;p32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6" name="Google Shape;276;p32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7" name="Google Shape;277;p32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8" name="Google Shape;278;p32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9" name="Google Shape;279;p32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80" name="Google Shape;280;p32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81" name="Google Shape;281;p32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82" name="Google Shape;282;p3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3" name="Google Shape;283;p32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4" name="Google Shape;284;p32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7" name="Google Shape;287;p33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8" name="Google Shape;288;p3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89" name="Google Shape;289;p3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0" name="Google Shape;290;p3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2" name="Google Shape;292;p33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3" name="Google Shape;293;p33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4" name="Google Shape;294;p33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5" name="Google Shape;295;p33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33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9" name="Google Shape;299;p3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0" name="Google Shape;300;p3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1" name="Google Shape;301;p3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2" name="Google Shape;302;p34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303" name="Google Shape;303;p34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4" name="Google Shape;304;p34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6" name="Google Shape;306;p34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7" name="Google Shape;307;p34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8" name="Google Shape;308;p34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9" name="Google Shape;309;p34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310" name="Google Shape;310;p34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1" name="Google Shape;311;p34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2" name="Google Shape;312;p34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3" name="Google Shape;313;p34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4" name="Google Shape;314;p34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5" name="Google Shape;315;p34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34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19" name="Google Shape;319;p3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20" name="Google Shape;320;p3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1" name="Google Shape;321;p3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35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3" name="Google Shape;323;p35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4" name="Google Shape;324;p35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6" name="Google Shape;326;p35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7" name="Google Shape;327;p35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8" name="Google Shape;328;p35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9" name="Google Shape;329;p35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1" name="Google Shape;331;p35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2" name="Google Shape;332;p35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3" name="Google Shape;333;p35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6" name="Google Shape;336;p3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7" name="Google Shape;337;p3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9" name="Google Shape;339;p3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0" name="Google Shape;340;p36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1" name="Google Shape;341;p36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2" name="Google Shape;342;p36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3" name="Google Shape;343;p36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4" name="Google Shape;344;p36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6" name="Google Shape;346;p36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7" name="Google Shape;347;p36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8" name="Google Shape;348;p36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1" name="Google Shape;351;p3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52" name="Google Shape;352;p3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53" name="Google Shape;353;p37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4" name="Google Shape;354;p37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55" name="Google Shape;355;p37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6" name="Google Shape;356;p37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7" name="Google Shape;357;p37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8" name="Google Shape;358;p37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9" name="Google Shape;359;p37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0" name="Google Shape;360;p37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1" name="Google Shape;361;p37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2" name="Google Shape;362;p37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3" name="Google Shape;363;p37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4" name="Google Shape;364;p37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9" name="Google Shape;369;p37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70" name="Google Shape;370;p37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3" name="Google Shape;373;p38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4" name="Google Shape;374;p3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75" name="Google Shape;375;p3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76" name="Google Shape;376;p38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7" name="Google Shape;377;p38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8" name="Google Shape;378;p38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5" name="Google Shape;395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0" name="Google Shape;400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5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5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5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5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2" name="Google Shape;422;p5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5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5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5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5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0" name="Google Shape;430;p5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5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5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5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2" name="Google Shape;45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7" name="Google Shape;457;p5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5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2" name="Google Shape;46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5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 txBox="1"/>
          <p:nvPr>
            <p:ph idx="3" type="title"/>
          </p:nvPr>
        </p:nvSpPr>
        <p:spPr>
          <a:xfrm>
            <a:off x="189625" y="321475"/>
            <a:ext cx="6257700" cy="328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STRATEGIC PLAN PRESENTATION</a:t>
            </a:r>
            <a:endParaRPr sz="6600"/>
          </a:p>
        </p:txBody>
      </p:sp>
      <p:sp>
        <p:nvSpPr>
          <p:cNvPr id="484" name="Google Shape;484;p60"/>
          <p:cNvSpPr txBox="1"/>
          <p:nvPr>
            <p:ph type="title"/>
          </p:nvPr>
        </p:nvSpPr>
        <p:spPr>
          <a:xfrm>
            <a:off x="228225" y="3696900"/>
            <a:ext cx="5522400" cy="12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 Mayowa Adeboye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Strategy Analyst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Date: January 10, 2026</a:t>
            </a:r>
            <a:endParaRPr sz="1800"/>
          </a:p>
        </p:txBody>
      </p:sp>
      <p:pic>
        <p:nvPicPr>
          <p:cNvPr id="485" name="Google Shape;485;p60" title="My Picture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325" y="2946800"/>
            <a:ext cx="2468074" cy="189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 txBox="1"/>
          <p:nvPr>
            <p:ph idx="18" type="title"/>
          </p:nvPr>
        </p:nvSpPr>
        <p:spPr>
          <a:xfrm>
            <a:off x="228600" y="228600"/>
            <a:ext cx="57624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Executive Summary</a:t>
            </a:r>
            <a:endParaRPr sz="3000"/>
          </a:p>
        </p:txBody>
      </p:sp>
      <p:sp>
        <p:nvSpPr>
          <p:cNvPr id="491" name="Google Shape;491;p61"/>
          <p:cNvSpPr txBox="1"/>
          <p:nvPr/>
        </p:nvSpPr>
        <p:spPr>
          <a:xfrm>
            <a:off x="142875" y="821525"/>
            <a:ext cx="6714900" cy="4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Objective: Modernize library operations by replacing manual tracking with automated SQL database solutions.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Scope: Analyzed 6 datasets (Books, Members, Issues, Returns, Employees, Branches) to solve 7 problems.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Revenue Recovery: Automated fine calculation for the "Overdue Book Crisis" (potential $12k/year recovery).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Efficiency: Reduced return processing time by implementing Database Triggers.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Integrity: Eliminated double-booking errors using Stored Procedures.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pink penguin with an orange beak and a white body (Provided by Tenor)" id="492" name="Google Shape;49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0900" y="228600"/>
            <a:ext cx="1768076" cy="157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2"/>
          <p:cNvSpPr txBox="1"/>
          <p:nvPr>
            <p:ph idx="18" type="title"/>
          </p:nvPr>
        </p:nvSpPr>
        <p:spPr>
          <a:xfrm>
            <a:off x="228600" y="228600"/>
            <a:ext cx="57624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Overview</a:t>
            </a:r>
            <a:endParaRPr sz="3000"/>
          </a:p>
        </p:txBody>
      </p:sp>
      <p:sp>
        <p:nvSpPr>
          <p:cNvPr id="498" name="Google Shape;498;p62"/>
          <p:cNvSpPr txBox="1"/>
          <p:nvPr/>
        </p:nvSpPr>
        <p:spPr>
          <a:xfrm>
            <a:off x="142875" y="821525"/>
            <a:ext cx="6714900" cy="4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Database Setup: Established a relational schema connecting 6 tables.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Data Integrity: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Standardized Primary Keys (branch_id, isbn, etc.) as VARCHAR.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Established Foreign Key constraints to prevent orphan records.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6 Datasets Imported &amp; Cleaned.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cartoon penguin is sitting in front of a computer screen with the letters b and h on it (Provided by Tenor)" id="499" name="Google Shape;49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200" y="152400"/>
            <a:ext cx="1651400" cy="13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 txBox="1"/>
          <p:nvPr>
            <p:ph idx="1" type="subTitle"/>
          </p:nvPr>
        </p:nvSpPr>
        <p:spPr>
          <a:xfrm>
            <a:off x="230075" y="142875"/>
            <a:ext cx="5306400" cy="55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Financial Recovery (Problem 1)</a:t>
            </a:r>
            <a:endParaRPr sz="3000"/>
          </a:p>
        </p:txBody>
      </p:sp>
      <p:sp>
        <p:nvSpPr>
          <p:cNvPr id="505" name="Google Shape;505;p63"/>
          <p:cNvSpPr txBox="1"/>
          <p:nvPr/>
        </p:nvSpPr>
        <p:spPr>
          <a:xfrm>
            <a:off x="228600" y="2000250"/>
            <a:ext cx="8686800" cy="2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Issue: Significant revenue leak caused by manual tracking of overdue books.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Solution (P1): Developed a dynamic SQL report identifying books held &gt;30 days with auto-calculated fines ($0.50/day).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Automated calculation of $0.50/day fines.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Action: Billing list exported for immediate recovery.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06" name="Google Shape;506;p63" title="Problem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696675"/>
            <a:ext cx="8415349" cy="13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 txBox="1"/>
          <p:nvPr>
            <p:ph idx="1" type="subTitle"/>
          </p:nvPr>
        </p:nvSpPr>
        <p:spPr>
          <a:xfrm>
            <a:off x="230075" y="89300"/>
            <a:ext cx="5306400" cy="70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System Automation (Problem 2)</a:t>
            </a:r>
            <a:endParaRPr sz="3000"/>
          </a:p>
        </p:txBody>
      </p:sp>
      <p:sp>
        <p:nvSpPr>
          <p:cNvPr id="512" name="Google Shape;512;p64"/>
          <p:cNvSpPr txBox="1"/>
          <p:nvPr/>
        </p:nvSpPr>
        <p:spPr>
          <a:xfrm>
            <a:off x="303600" y="2053825"/>
            <a:ext cx="8197500" cy="27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Issue: Manual processes caused long queues (returns) and data errors (double-booking).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Solution : Implemented Triggers for instant status updates and Stored Procedures for logic checks.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Result: Reduced return processing time to zero and eliminated double-booking errors completely.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13" name="Google Shape;513;p64" title="Probl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798650"/>
            <a:ext cx="8608226" cy="12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5"/>
          <p:cNvSpPr txBox="1"/>
          <p:nvPr>
            <p:ph idx="1" type="subTitle"/>
          </p:nvPr>
        </p:nvSpPr>
        <p:spPr>
          <a:xfrm>
            <a:off x="230075" y="228600"/>
            <a:ext cx="5306400" cy="521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Branch Performance (Problem 3)</a:t>
            </a:r>
            <a:endParaRPr sz="3000"/>
          </a:p>
        </p:txBody>
      </p:sp>
      <p:sp>
        <p:nvSpPr>
          <p:cNvPr id="519" name="Google Shape;519;p65"/>
          <p:cNvSpPr txBox="1"/>
          <p:nvPr/>
        </p:nvSpPr>
        <p:spPr>
          <a:xfrm>
            <a:off x="230075" y="2196700"/>
            <a:ext cx="8592300" cy="27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Issue: Management lacked visibility on which branches were profitable versus just "busy."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Solution (P3): Created a comprehensive Branch Scorecard linking Revenue, Issue Volume, and Return Efficiency.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Result: Identified B001 as the primary revenue driver, justifying Q1 budget increases.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20" name="Google Shape;520;p65" title="Problem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25" y="750000"/>
            <a:ext cx="8163826" cy="13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6"/>
          <p:cNvSpPr txBox="1"/>
          <p:nvPr>
            <p:ph idx="1" type="subTitle"/>
          </p:nvPr>
        </p:nvSpPr>
        <p:spPr>
          <a:xfrm>
            <a:off x="230075" y="142875"/>
            <a:ext cx="6127800" cy="69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Member Engagement (Problem 4)</a:t>
            </a:r>
            <a:endParaRPr sz="3000"/>
          </a:p>
        </p:txBody>
      </p:sp>
      <p:sp>
        <p:nvSpPr>
          <p:cNvPr id="526" name="Google Shape;526;p66"/>
          <p:cNvSpPr txBox="1"/>
          <p:nvPr/>
        </p:nvSpPr>
        <p:spPr>
          <a:xfrm>
            <a:off x="230075" y="2297350"/>
            <a:ext cx="8592300" cy="27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Issue: Marketing budget was being wasted on "Ghost" members who hadn't visited in months.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Solution: Segmented the user base using a 60-Day Activity Threshold (Active vs. Inactive).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Result: Marketing team now exclusively targets the "Inactive" list for cost-effective re-engagement campaigns.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27" name="Google Shape;527;p66" title="Problem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0" y="756375"/>
            <a:ext cx="8868450" cy="13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7"/>
          <p:cNvSpPr txBox="1"/>
          <p:nvPr>
            <p:ph idx="1" type="subTitle"/>
          </p:nvPr>
        </p:nvSpPr>
        <p:spPr>
          <a:xfrm>
            <a:off x="230075" y="228600"/>
            <a:ext cx="5306400" cy="57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Staff Productivity (Problem 5)</a:t>
            </a:r>
            <a:endParaRPr sz="3000"/>
          </a:p>
        </p:txBody>
      </p:sp>
      <p:sp>
        <p:nvSpPr>
          <p:cNvPr id="533" name="Google Shape;533;p67"/>
          <p:cNvSpPr txBox="1"/>
          <p:nvPr/>
        </p:nvSpPr>
        <p:spPr>
          <a:xfrm>
            <a:off x="230075" y="2571750"/>
            <a:ext cx="8685300" cy="23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Issue: Performance reviews were subjective and based on manager opinion rather than hard data.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Solution: Generated a "Productivity Leaderboard" ranking all staff by total transaction volume.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Result: Justin Baker identified as the #1 performer; bonuses are now data-driven.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34" name="Google Shape;534;p67" title="Problem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75" y="803700"/>
            <a:ext cx="8018850" cy="14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8"/>
          <p:cNvSpPr txBox="1"/>
          <p:nvPr>
            <p:ph idx="1" type="subTitle"/>
          </p:nvPr>
        </p:nvSpPr>
        <p:spPr>
          <a:xfrm>
            <a:off x="228600" y="228600"/>
            <a:ext cx="5762400" cy="62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Risk Management (Problem 6)</a:t>
            </a:r>
            <a:endParaRPr sz="3000"/>
          </a:p>
        </p:txBody>
      </p:sp>
      <p:sp>
        <p:nvSpPr>
          <p:cNvPr id="540" name="Google Shape;540;p68"/>
          <p:cNvSpPr txBox="1"/>
          <p:nvPr/>
        </p:nvSpPr>
        <p:spPr>
          <a:xfrm>
            <a:off x="228600" y="2089550"/>
            <a:ext cx="8686800" cy="28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Issue: High book replacement costs caused by members repeatedly damaging inventory.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Solution (P6): "Serial Offender" query identifies members who have returned &gt;2 damaged items.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Result: High-risk accounts are automatically flagged for suspension until damage fees are paid.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41" name="Google Shape;541;p68" title="Problem 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006200"/>
            <a:ext cx="7665249" cy="9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9"/>
          <p:cNvSpPr txBox="1"/>
          <p:nvPr>
            <p:ph idx="1" type="subTitle"/>
          </p:nvPr>
        </p:nvSpPr>
        <p:spPr>
          <a:xfrm>
            <a:off x="228600" y="144600"/>
            <a:ext cx="5522100" cy="62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System Automation (Problem 6)</a:t>
            </a:r>
            <a:endParaRPr sz="3000"/>
          </a:p>
        </p:txBody>
      </p:sp>
      <p:sp>
        <p:nvSpPr>
          <p:cNvPr id="547" name="Google Shape;547;p69"/>
          <p:cNvSpPr txBox="1"/>
          <p:nvPr/>
        </p:nvSpPr>
        <p:spPr>
          <a:xfrm>
            <a:off x="228600" y="1895400"/>
            <a:ext cx="8686800" cy="30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Issue: Manual processes caused long queues (returns) and data errors (double-booking).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Solution: Implemented Triggers for instant status updates and Stored Procedures for logic checks.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AutoNum type="arabicPeriod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Result: Reduced return processing time to zero and eliminated double-booking errors completely.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48" name="Google Shape;548;p69" title="Problem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697700"/>
            <a:ext cx="7090175" cy="11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/>
          <p:nvPr>
            <p:ph idx="1" type="subTitle"/>
          </p:nvPr>
        </p:nvSpPr>
        <p:spPr>
          <a:xfrm>
            <a:off x="228600" y="144600"/>
            <a:ext cx="5522100" cy="7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Recommendations</a:t>
            </a:r>
            <a:endParaRPr sz="3000"/>
          </a:p>
        </p:txBody>
      </p:sp>
      <p:sp>
        <p:nvSpPr>
          <p:cNvPr id="554" name="Google Shape;554;p70"/>
          <p:cNvSpPr txBox="1"/>
          <p:nvPr/>
        </p:nvSpPr>
        <p:spPr>
          <a:xfrm>
            <a:off x="228600" y="1357325"/>
            <a:ext cx="59685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Inventory Strategy: Shift budget to high-velocity categories (e.g., Sci-Fi) based on the new rental frequency data.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Automated Policing: Implement a "Suspension Trigger" for any member with &gt;$20 in unpaid fines.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t"/>
              <a:buChar char="●"/>
            </a:pPr>
            <a:r>
              <a:rPr lang="en" sz="18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Expansion: Roll out this SQL toolkit to the remaining 3 regional libraries in Q2 2026.</a:t>
            </a:r>
            <a:endParaRPr sz="1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red and white circle with a hand giving a thumbs up and the words recommended (Provided by Tenor)" id="555" name="Google Shape;55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9573" y="152400"/>
            <a:ext cx="2382027" cy="220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1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61" name="Google Shape;561;p71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